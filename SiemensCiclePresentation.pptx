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Montserrat Ultra-Bold" charset="1" panose="00000900000000000000"/>
      <p:regular r:id="rId13"/>
    </p:embeddedFont>
    <p:embeddedFont>
      <p:font typeface="Montserrat Bold" charset="1" panose="00000800000000000000"/>
      <p:regular r:id="rId14"/>
    </p:embeddedFont>
    <p:embeddedFont>
      <p:font typeface="Montserrat"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svg" Type="http://schemas.openxmlformats.org/officeDocument/2006/relationships/image"/><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Freeform 2" id="2"/>
          <p:cNvSpPr/>
          <p:nvPr/>
        </p:nvSpPr>
        <p:spPr>
          <a:xfrm flipH="true" flipV="false" rot="0">
            <a:off x="5178174" y="6022895"/>
            <a:ext cx="9643768" cy="1928754"/>
          </a:xfrm>
          <a:custGeom>
            <a:avLst/>
            <a:gdLst/>
            <a:ahLst/>
            <a:cxnLst/>
            <a:rect r="r" b="b" t="t" l="l"/>
            <a:pathLst>
              <a:path h="1928754" w="9643768">
                <a:moveTo>
                  <a:pt x="9643768" y="0"/>
                </a:moveTo>
                <a:lnTo>
                  <a:pt x="0" y="0"/>
                </a:lnTo>
                <a:lnTo>
                  <a:pt x="0" y="1928754"/>
                </a:lnTo>
                <a:lnTo>
                  <a:pt x="9643768" y="1928754"/>
                </a:lnTo>
                <a:lnTo>
                  <a:pt x="964376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947843" y="2960535"/>
            <a:ext cx="8392313" cy="6021485"/>
          </a:xfrm>
          <a:custGeom>
            <a:avLst/>
            <a:gdLst/>
            <a:ahLst/>
            <a:cxnLst/>
            <a:rect r="r" b="b" t="t" l="l"/>
            <a:pathLst>
              <a:path h="6021485" w="8392313">
                <a:moveTo>
                  <a:pt x="0" y="0"/>
                </a:moveTo>
                <a:lnTo>
                  <a:pt x="8392314" y="0"/>
                </a:lnTo>
                <a:lnTo>
                  <a:pt x="8392314" y="6021485"/>
                </a:lnTo>
                <a:lnTo>
                  <a:pt x="0" y="6021485"/>
                </a:lnTo>
                <a:lnTo>
                  <a:pt x="0" y="0"/>
                </a:lnTo>
                <a:close/>
              </a:path>
            </a:pathLst>
          </a:custGeom>
          <a:blipFill>
            <a:blip r:embed="rId4"/>
            <a:stretch>
              <a:fillRect l="0" t="0" r="0" b="0"/>
            </a:stretch>
          </a:blipFill>
        </p:spPr>
      </p:sp>
      <p:sp>
        <p:nvSpPr>
          <p:cNvPr name="TextBox 4" id="4"/>
          <p:cNvSpPr txBox="true"/>
          <p:nvPr/>
        </p:nvSpPr>
        <p:spPr>
          <a:xfrm rot="0">
            <a:off x="1121823" y="2354261"/>
            <a:ext cx="16230600" cy="1368424"/>
          </a:xfrm>
          <a:prstGeom prst="rect">
            <a:avLst/>
          </a:prstGeom>
        </p:spPr>
        <p:txBody>
          <a:bodyPr anchor="t" rtlCol="false" tIns="0" lIns="0" bIns="0" rIns="0">
            <a:spAutoFit/>
          </a:bodyPr>
          <a:lstStyle/>
          <a:p>
            <a:pPr algn="ctr" marL="0" indent="0" lvl="0">
              <a:lnSpc>
                <a:spcPts val="11200"/>
              </a:lnSpc>
              <a:spcBef>
                <a:spcPct val="0"/>
              </a:spcBef>
            </a:pPr>
            <a:r>
              <a:rPr lang="en-US" b="true" sz="8000" spc="616">
                <a:solidFill>
                  <a:srgbClr val="967630"/>
                </a:solidFill>
                <a:latin typeface="Montserrat Ultra-Bold"/>
                <a:ea typeface="Montserrat Ultra-Bold"/>
                <a:cs typeface="Montserrat Ultra-Bold"/>
                <a:sym typeface="Montserrat Ultra-Bold"/>
              </a:rPr>
              <a:t>Motorcycle Simulator</a:t>
            </a:r>
          </a:p>
        </p:txBody>
      </p:sp>
      <p:sp>
        <p:nvSpPr>
          <p:cNvPr name="Freeform 5" id="5"/>
          <p:cNvSpPr/>
          <p:nvPr/>
        </p:nvSpPr>
        <p:spPr>
          <a:xfrm flipH="false" flipV="false" rot="0">
            <a:off x="7698778" y="815066"/>
            <a:ext cx="427269" cy="427269"/>
          </a:xfrm>
          <a:custGeom>
            <a:avLst/>
            <a:gdLst/>
            <a:ahLst/>
            <a:cxnLst/>
            <a:rect r="r" b="b" t="t" l="l"/>
            <a:pathLst>
              <a:path h="427269" w="427269">
                <a:moveTo>
                  <a:pt x="0" y="0"/>
                </a:moveTo>
                <a:lnTo>
                  <a:pt x="427269" y="0"/>
                </a:lnTo>
                <a:lnTo>
                  <a:pt x="427269" y="427268"/>
                </a:lnTo>
                <a:lnTo>
                  <a:pt x="0" y="4272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5117550" y="4688260"/>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028700" y="8553340"/>
            <a:ext cx="2337901" cy="512385"/>
            <a:chOff x="0" y="0"/>
            <a:chExt cx="615743" cy="134949"/>
          </a:xfrm>
        </p:grpSpPr>
        <p:sp>
          <p:nvSpPr>
            <p:cNvPr name="Freeform 8" id="8"/>
            <p:cNvSpPr/>
            <p:nvPr/>
          </p:nvSpPr>
          <p:spPr>
            <a:xfrm flipH="false" flipV="false" rot="0">
              <a:off x="0" y="0"/>
              <a:ext cx="615743" cy="134949"/>
            </a:xfrm>
            <a:custGeom>
              <a:avLst/>
              <a:gdLst/>
              <a:ahLst/>
              <a:cxnLst/>
              <a:rect r="r" b="b" t="t" l="l"/>
              <a:pathLst>
                <a:path h="134949" w="615743">
                  <a:moveTo>
                    <a:pt x="0" y="0"/>
                  </a:moveTo>
                  <a:lnTo>
                    <a:pt x="615743" y="0"/>
                  </a:lnTo>
                  <a:lnTo>
                    <a:pt x="615743" y="134949"/>
                  </a:lnTo>
                  <a:lnTo>
                    <a:pt x="0" y="134949"/>
                  </a:lnTo>
                  <a:close/>
                </a:path>
              </a:pathLst>
            </a:custGeom>
            <a:solidFill>
              <a:srgbClr val="967630"/>
            </a:solidFill>
          </p:spPr>
        </p:sp>
        <p:sp>
          <p:nvSpPr>
            <p:cNvPr name="TextBox 9" id="9"/>
            <p:cNvSpPr txBox="true"/>
            <p:nvPr/>
          </p:nvSpPr>
          <p:spPr>
            <a:xfrm>
              <a:off x="0" y="-38100"/>
              <a:ext cx="615743" cy="173049"/>
            </a:xfrm>
            <a:prstGeom prst="rect">
              <a:avLst/>
            </a:prstGeom>
          </p:spPr>
          <p:txBody>
            <a:bodyPr anchor="ctr" rtlCol="false" tIns="50800" lIns="50800" bIns="50800" rIns="50800"/>
            <a:lstStyle/>
            <a:p>
              <a:pPr algn="ctr">
                <a:lnSpc>
                  <a:spcPts val="2940"/>
                </a:lnSpc>
              </a:pPr>
            </a:p>
          </p:txBody>
        </p:sp>
      </p:grpSp>
      <p:sp>
        <p:nvSpPr>
          <p:cNvPr name="TextBox 10" id="10"/>
          <p:cNvSpPr txBox="true"/>
          <p:nvPr/>
        </p:nvSpPr>
        <p:spPr>
          <a:xfrm rot="0">
            <a:off x="8306263" y="811530"/>
            <a:ext cx="22829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sp>
        <p:nvSpPr>
          <p:cNvPr name="TextBox 11" id="11"/>
          <p:cNvSpPr txBox="true"/>
          <p:nvPr/>
        </p:nvSpPr>
        <p:spPr>
          <a:xfrm rot="0">
            <a:off x="1121823" y="8592363"/>
            <a:ext cx="2151654" cy="396240"/>
          </a:xfrm>
          <a:prstGeom prst="rect">
            <a:avLst/>
          </a:prstGeom>
        </p:spPr>
        <p:txBody>
          <a:bodyPr anchor="t" rtlCol="false" tIns="0" lIns="0" bIns="0" rIns="0">
            <a:spAutoFit/>
          </a:bodyPr>
          <a:lstStyle/>
          <a:p>
            <a:pPr algn="ctr" marL="0" indent="0" lvl="0">
              <a:lnSpc>
                <a:spcPts val="3359"/>
              </a:lnSpc>
              <a:spcBef>
                <a:spcPct val="0"/>
              </a:spcBef>
            </a:pPr>
            <a:r>
              <a:rPr lang="en-US" b="true" sz="2400" u="none">
                <a:solidFill>
                  <a:srgbClr val="141415"/>
                </a:solidFill>
                <a:latin typeface="Montserrat Bold"/>
                <a:ea typeface="Montserrat Bold"/>
                <a:cs typeface="Montserrat Bold"/>
                <a:sym typeface="Montserrat Bold"/>
              </a:rPr>
              <a:t>Start </a:t>
            </a:r>
          </a:p>
        </p:txBody>
      </p:sp>
      <p:sp>
        <p:nvSpPr>
          <p:cNvPr name="Freeform 12" id="12"/>
          <p:cNvSpPr/>
          <p:nvPr/>
        </p:nvSpPr>
        <p:spPr>
          <a:xfrm flipH="true" flipV="true" rot="-10800000">
            <a:off x="15855362" y="9555480"/>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TextBox 2" id="2"/>
          <p:cNvSpPr txBox="true"/>
          <p:nvPr/>
        </p:nvSpPr>
        <p:spPr>
          <a:xfrm rot="0">
            <a:off x="15787318" y="8644890"/>
            <a:ext cx="1471982" cy="613410"/>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FFFFFF"/>
                </a:solidFill>
                <a:latin typeface="Montserrat Ultra-Bold"/>
                <a:ea typeface="Montserrat Ultra-Bold"/>
                <a:cs typeface="Montserrat Ultra-Bold"/>
                <a:sym typeface="Montserrat Ultra-Bold"/>
              </a:rPr>
              <a:t>01</a:t>
            </a:r>
          </a:p>
        </p:txBody>
      </p:sp>
      <p:sp>
        <p:nvSpPr>
          <p:cNvPr name="TextBox 3" id="3"/>
          <p:cNvSpPr txBox="true"/>
          <p:nvPr/>
        </p:nvSpPr>
        <p:spPr>
          <a:xfrm rot="0">
            <a:off x="3649459" y="2847986"/>
            <a:ext cx="10989083" cy="1099185"/>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Montserrat"/>
                <a:ea typeface="Montserrat"/>
                <a:cs typeface="Montserrat"/>
                <a:sym typeface="Montserrat"/>
              </a:rPr>
              <a:t>Suntem o echipă formată din 3 studenți la Facultatea de Inginerie Electrică și Știința Calculatoarelor, specializarea Calcuatoare anul II. Suntem pasionați de electronica digitală, protocoale de comunicare și devoltarea problemelor software.</a:t>
            </a:r>
          </a:p>
        </p:txBody>
      </p:sp>
      <p:grpSp>
        <p:nvGrpSpPr>
          <p:cNvPr name="Group 4" id="4"/>
          <p:cNvGrpSpPr/>
          <p:nvPr/>
        </p:nvGrpSpPr>
        <p:grpSpPr>
          <a:xfrm rot="0">
            <a:off x="3895809" y="5257382"/>
            <a:ext cx="2700949" cy="1810863"/>
            <a:chOff x="0" y="0"/>
            <a:chExt cx="827179" cy="554586"/>
          </a:xfrm>
        </p:grpSpPr>
        <p:sp>
          <p:nvSpPr>
            <p:cNvPr name="Freeform 5" id="5"/>
            <p:cNvSpPr/>
            <p:nvPr/>
          </p:nvSpPr>
          <p:spPr>
            <a:xfrm flipH="false" flipV="false" rot="0">
              <a:off x="0" y="0"/>
              <a:ext cx="827179" cy="554586"/>
            </a:xfrm>
            <a:custGeom>
              <a:avLst/>
              <a:gdLst/>
              <a:ahLst/>
              <a:cxnLst/>
              <a:rect r="r" b="b" t="t" l="l"/>
              <a:pathLst>
                <a:path h="554586" w="827179">
                  <a:moveTo>
                    <a:pt x="0" y="0"/>
                  </a:moveTo>
                  <a:lnTo>
                    <a:pt x="827179" y="0"/>
                  </a:lnTo>
                  <a:lnTo>
                    <a:pt x="827179" y="554586"/>
                  </a:lnTo>
                  <a:lnTo>
                    <a:pt x="0" y="554586"/>
                  </a:lnTo>
                  <a:close/>
                </a:path>
              </a:pathLst>
            </a:custGeom>
            <a:solidFill>
              <a:srgbClr val="967630"/>
            </a:solidFill>
          </p:spPr>
        </p:sp>
        <p:sp>
          <p:nvSpPr>
            <p:cNvPr name="TextBox 6" id="6"/>
            <p:cNvSpPr txBox="true"/>
            <p:nvPr/>
          </p:nvSpPr>
          <p:spPr>
            <a:xfrm>
              <a:off x="0" y="-38100"/>
              <a:ext cx="827179" cy="592686"/>
            </a:xfrm>
            <a:prstGeom prst="rect">
              <a:avLst/>
            </a:prstGeom>
          </p:spPr>
          <p:txBody>
            <a:bodyPr anchor="ctr" rtlCol="false" tIns="50800" lIns="50800" bIns="50800" rIns="50800"/>
            <a:lstStyle/>
            <a:p>
              <a:pPr algn="ctr">
                <a:lnSpc>
                  <a:spcPts val="2940"/>
                </a:lnSpc>
              </a:pPr>
            </a:p>
          </p:txBody>
        </p:sp>
      </p:grpSp>
      <p:grpSp>
        <p:nvGrpSpPr>
          <p:cNvPr name="Group 7" id="7"/>
          <p:cNvGrpSpPr/>
          <p:nvPr/>
        </p:nvGrpSpPr>
        <p:grpSpPr>
          <a:xfrm rot="0">
            <a:off x="4035656" y="4685491"/>
            <a:ext cx="2421254" cy="2220063"/>
            <a:chOff x="0" y="0"/>
            <a:chExt cx="436189" cy="399944"/>
          </a:xfrm>
        </p:grpSpPr>
        <p:sp>
          <p:nvSpPr>
            <p:cNvPr name="Freeform 8" id="8"/>
            <p:cNvSpPr/>
            <p:nvPr/>
          </p:nvSpPr>
          <p:spPr>
            <a:xfrm flipH="false" flipV="false" rot="0">
              <a:off x="0" y="0"/>
              <a:ext cx="436189" cy="399944"/>
            </a:xfrm>
            <a:custGeom>
              <a:avLst/>
              <a:gdLst/>
              <a:ahLst/>
              <a:cxnLst/>
              <a:rect r="r" b="b" t="t" l="l"/>
              <a:pathLst>
                <a:path h="399944" w="436189">
                  <a:moveTo>
                    <a:pt x="0" y="0"/>
                  </a:moveTo>
                  <a:lnTo>
                    <a:pt x="436189" y="0"/>
                  </a:lnTo>
                  <a:lnTo>
                    <a:pt x="436189" y="399944"/>
                  </a:lnTo>
                  <a:lnTo>
                    <a:pt x="0" y="399944"/>
                  </a:lnTo>
                  <a:close/>
                </a:path>
              </a:pathLst>
            </a:custGeom>
            <a:blipFill>
              <a:blip r:embed="rId2"/>
              <a:stretch>
                <a:fillRect l="0" t="-47062" r="0" b="-47062"/>
              </a:stretch>
            </a:blipFill>
          </p:spPr>
        </p:sp>
      </p:grpSp>
      <p:sp>
        <p:nvSpPr>
          <p:cNvPr name="TextBox 9" id="9"/>
          <p:cNvSpPr txBox="true"/>
          <p:nvPr/>
        </p:nvSpPr>
        <p:spPr>
          <a:xfrm rot="0">
            <a:off x="3497450" y="7870319"/>
            <a:ext cx="3497667" cy="356235"/>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Montserrat"/>
                <a:ea typeface="Montserrat"/>
                <a:cs typeface="Montserrat"/>
                <a:sym typeface="Montserrat"/>
              </a:rPr>
              <a:t>Generare date</a:t>
            </a:r>
          </a:p>
        </p:txBody>
      </p:sp>
      <p:sp>
        <p:nvSpPr>
          <p:cNvPr name="TextBox 10" id="10"/>
          <p:cNvSpPr txBox="true"/>
          <p:nvPr/>
        </p:nvSpPr>
        <p:spPr>
          <a:xfrm rot="0">
            <a:off x="3497450" y="7336558"/>
            <a:ext cx="3497667" cy="396240"/>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FFFFFF"/>
                </a:solidFill>
                <a:latin typeface="Montserrat Bold"/>
                <a:ea typeface="Montserrat Bold"/>
                <a:cs typeface="Montserrat Bold"/>
                <a:sym typeface="Montserrat Bold"/>
              </a:rPr>
              <a:t>Mușat Mario</a:t>
            </a:r>
          </a:p>
        </p:txBody>
      </p:sp>
      <p:grpSp>
        <p:nvGrpSpPr>
          <p:cNvPr name="Group 11" id="11"/>
          <p:cNvGrpSpPr/>
          <p:nvPr/>
        </p:nvGrpSpPr>
        <p:grpSpPr>
          <a:xfrm rot="0">
            <a:off x="7793526" y="5257382"/>
            <a:ext cx="2700949" cy="1810863"/>
            <a:chOff x="0" y="0"/>
            <a:chExt cx="827179" cy="554586"/>
          </a:xfrm>
        </p:grpSpPr>
        <p:sp>
          <p:nvSpPr>
            <p:cNvPr name="Freeform 12" id="12"/>
            <p:cNvSpPr/>
            <p:nvPr/>
          </p:nvSpPr>
          <p:spPr>
            <a:xfrm flipH="false" flipV="false" rot="0">
              <a:off x="0" y="0"/>
              <a:ext cx="827179" cy="554586"/>
            </a:xfrm>
            <a:custGeom>
              <a:avLst/>
              <a:gdLst/>
              <a:ahLst/>
              <a:cxnLst/>
              <a:rect r="r" b="b" t="t" l="l"/>
              <a:pathLst>
                <a:path h="554586" w="827179">
                  <a:moveTo>
                    <a:pt x="0" y="0"/>
                  </a:moveTo>
                  <a:lnTo>
                    <a:pt x="827179" y="0"/>
                  </a:lnTo>
                  <a:lnTo>
                    <a:pt x="827179" y="554586"/>
                  </a:lnTo>
                  <a:lnTo>
                    <a:pt x="0" y="554586"/>
                  </a:lnTo>
                  <a:close/>
                </a:path>
              </a:pathLst>
            </a:custGeom>
            <a:solidFill>
              <a:srgbClr val="967630"/>
            </a:solidFill>
          </p:spPr>
        </p:sp>
        <p:sp>
          <p:nvSpPr>
            <p:cNvPr name="TextBox 13" id="13"/>
            <p:cNvSpPr txBox="true"/>
            <p:nvPr/>
          </p:nvSpPr>
          <p:spPr>
            <a:xfrm>
              <a:off x="0" y="-38100"/>
              <a:ext cx="827179" cy="592686"/>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7933373" y="4685491"/>
            <a:ext cx="2421254" cy="2220063"/>
            <a:chOff x="0" y="0"/>
            <a:chExt cx="436189" cy="399944"/>
          </a:xfrm>
        </p:grpSpPr>
        <p:sp>
          <p:nvSpPr>
            <p:cNvPr name="Freeform 15" id="15"/>
            <p:cNvSpPr/>
            <p:nvPr/>
          </p:nvSpPr>
          <p:spPr>
            <a:xfrm flipH="false" flipV="false" rot="0">
              <a:off x="0" y="0"/>
              <a:ext cx="436189" cy="399944"/>
            </a:xfrm>
            <a:custGeom>
              <a:avLst/>
              <a:gdLst/>
              <a:ahLst/>
              <a:cxnLst/>
              <a:rect r="r" b="b" t="t" l="l"/>
              <a:pathLst>
                <a:path h="399944" w="436189">
                  <a:moveTo>
                    <a:pt x="0" y="0"/>
                  </a:moveTo>
                  <a:lnTo>
                    <a:pt x="436189" y="0"/>
                  </a:lnTo>
                  <a:lnTo>
                    <a:pt x="436189" y="399944"/>
                  </a:lnTo>
                  <a:lnTo>
                    <a:pt x="0" y="399944"/>
                  </a:lnTo>
                  <a:close/>
                </a:path>
              </a:pathLst>
            </a:custGeom>
            <a:blipFill>
              <a:blip r:embed="rId3"/>
              <a:stretch>
                <a:fillRect l="-47202" t="-83823" r="-4238" b="-36662"/>
              </a:stretch>
            </a:blipFill>
          </p:spPr>
        </p:sp>
      </p:grpSp>
      <p:sp>
        <p:nvSpPr>
          <p:cNvPr name="TextBox 16" id="16"/>
          <p:cNvSpPr txBox="true"/>
          <p:nvPr/>
        </p:nvSpPr>
        <p:spPr>
          <a:xfrm rot="0">
            <a:off x="7395167" y="7870319"/>
            <a:ext cx="3497667" cy="727710"/>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Montserrat"/>
                <a:ea typeface="Montserrat"/>
                <a:cs typeface="Montserrat"/>
                <a:sym typeface="Montserrat"/>
              </a:rPr>
              <a:t>Interfață de vizualizare date</a:t>
            </a:r>
          </a:p>
        </p:txBody>
      </p:sp>
      <p:sp>
        <p:nvSpPr>
          <p:cNvPr name="TextBox 17" id="17"/>
          <p:cNvSpPr txBox="true"/>
          <p:nvPr/>
        </p:nvSpPr>
        <p:spPr>
          <a:xfrm rot="0">
            <a:off x="7395167" y="7336558"/>
            <a:ext cx="3497667" cy="396240"/>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FFFFFF"/>
                </a:solidFill>
                <a:latin typeface="Montserrat Bold"/>
                <a:ea typeface="Montserrat Bold"/>
                <a:cs typeface="Montserrat Bold"/>
                <a:sym typeface="Montserrat Bold"/>
              </a:rPr>
              <a:t>Roman Ștefania</a:t>
            </a:r>
          </a:p>
        </p:txBody>
      </p:sp>
      <p:grpSp>
        <p:nvGrpSpPr>
          <p:cNvPr name="Group 18" id="18"/>
          <p:cNvGrpSpPr/>
          <p:nvPr/>
        </p:nvGrpSpPr>
        <p:grpSpPr>
          <a:xfrm rot="0">
            <a:off x="11691243" y="5257382"/>
            <a:ext cx="2700949" cy="1810863"/>
            <a:chOff x="0" y="0"/>
            <a:chExt cx="827179" cy="554586"/>
          </a:xfrm>
        </p:grpSpPr>
        <p:sp>
          <p:nvSpPr>
            <p:cNvPr name="Freeform 19" id="19"/>
            <p:cNvSpPr/>
            <p:nvPr/>
          </p:nvSpPr>
          <p:spPr>
            <a:xfrm flipH="false" flipV="false" rot="0">
              <a:off x="0" y="0"/>
              <a:ext cx="827179" cy="554586"/>
            </a:xfrm>
            <a:custGeom>
              <a:avLst/>
              <a:gdLst/>
              <a:ahLst/>
              <a:cxnLst/>
              <a:rect r="r" b="b" t="t" l="l"/>
              <a:pathLst>
                <a:path h="554586" w="827179">
                  <a:moveTo>
                    <a:pt x="0" y="0"/>
                  </a:moveTo>
                  <a:lnTo>
                    <a:pt x="827179" y="0"/>
                  </a:lnTo>
                  <a:lnTo>
                    <a:pt x="827179" y="554586"/>
                  </a:lnTo>
                  <a:lnTo>
                    <a:pt x="0" y="554586"/>
                  </a:lnTo>
                  <a:close/>
                </a:path>
              </a:pathLst>
            </a:custGeom>
            <a:solidFill>
              <a:srgbClr val="967630"/>
            </a:solidFill>
          </p:spPr>
        </p:sp>
        <p:sp>
          <p:nvSpPr>
            <p:cNvPr name="TextBox 20" id="20"/>
            <p:cNvSpPr txBox="true"/>
            <p:nvPr/>
          </p:nvSpPr>
          <p:spPr>
            <a:xfrm>
              <a:off x="0" y="-38100"/>
              <a:ext cx="827179" cy="592686"/>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0">
            <a:off x="11831090" y="4685491"/>
            <a:ext cx="2421254" cy="2220063"/>
            <a:chOff x="0" y="0"/>
            <a:chExt cx="436189" cy="399944"/>
          </a:xfrm>
        </p:grpSpPr>
        <p:sp>
          <p:nvSpPr>
            <p:cNvPr name="Freeform 22" id="22"/>
            <p:cNvSpPr/>
            <p:nvPr/>
          </p:nvSpPr>
          <p:spPr>
            <a:xfrm flipH="false" flipV="false" rot="0">
              <a:off x="0" y="0"/>
              <a:ext cx="436189" cy="399944"/>
            </a:xfrm>
            <a:custGeom>
              <a:avLst/>
              <a:gdLst/>
              <a:ahLst/>
              <a:cxnLst/>
              <a:rect r="r" b="b" t="t" l="l"/>
              <a:pathLst>
                <a:path h="399944" w="436189">
                  <a:moveTo>
                    <a:pt x="0" y="0"/>
                  </a:moveTo>
                  <a:lnTo>
                    <a:pt x="436189" y="0"/>
                  </a:lnTo>
                  <a:lnTo>
                    <a:pt x="436189" y="399944"/>
                  </a:lnTo>
                  <a:lnTo>
                    <a:pt x="0" y="399944"/>
                  </a:lnTo>
                  <a:close/>
                </a:path>
              </a:pathLst>
            </a:custGeom>
            <a:blipFill>
              <a:blip r:embed="rId4"/>
              <a:stretch>
                <a:fillRect l="-2119" t="-101266" r="-70032" b="-49373"/>
              </a:stretch>
            </a:blipFill>
          </p:spPr>
        </p:sp>
      </p:grpSp>
      <p:sp>
        <p:nvSpPr>
          <p:cNvPr name="TextBox 23" id="23"/>
          <p:cNvSpPr txBox="true"/>
          <p:nvPr/>
        </p:nvSpPr>
        <p:spPr>
          <a:xfrm rot="0">
            <a:off x="11292883" y="7870319"/>
            <a:ext cx="3497667" cy="356235"/>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Montserrat"/>
                <a:ea typeface="Montserrat"/>
                <a:cs typeface="Montserrat"/>
                <a:sym typeface="Montserrat"/>
              </a:rPr>
              <a:t>Circuit cu ESP32-C6</a:t>
            </a:r>
          </a:p>
        </p:txBody>
      </p:sp>
      <p:sp>
        <p:nvSpPr>
          <p:cNvPr name="TextBox 24" id="24"/>
          <p:cNvSpPr txBox="true"/>
          <p:nvPr/>
        </p:nvSpPr>
        <p:spPr>
          <a:xfrm rot="0">
            <a:off x="11292883" y="7336558"/>
            <a:ext cx="3497667" cy="396240"/>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FFFFFF"/>
                </a:solidFill>
                <a:latin typeface="Montserrat Bold"/>
                <a:ea typeface="Montserrat Bold"/>
                <a:cs typeface="Montserrat Bold"/>
                <a:sym typeface="Montserrat Bold"/>
              </a:rPr>
              <a:t>Olteanu Adelin</a:t>
            </a:r>
          </a:p>
        </p:txBody>
      </p:sp>
      <p:sp>
        <p:nvSpPr>
          <p:cNvPr name="TextBox 25" id="25"/>
          <p:cNvSpPr txBox="true"/>
          <p:nvPr/>
        </p:nvSpPr>
        <p:spPr>
          <a:xfrm rot="0">
            <a:off x="8954348" y="1769756"/>
            <a:ext cx="5684194" cy="811530"/>
          </a:xfrm>
          <a:prstGeom prst="rect">
            <a:avLst/>
          </a:prstGeom>
        </p:spPr>
        <p:txBody>
          <a:bodyPr anchor="t" rtlCol="false" tIns="0" lIns="0" bIns="0" rIns="0">
            <a:spAutoFit/>
          </a:bodyPr>
          <a:lstStyle/>
          <a:p>
            <a:pPr algn="ctr" marL="0" indent="0" lvl="0">
              <a:lnSpc>
                <a:spcPts val="6719"/>
              </a:lnSpc>
              <a:spcBef>
                <a:spcPct val="0"/>
              </a:spcBef>
            </a:pPr>
            <a:r>
              <a:rPr lang="en-US" b="true" sz="4800">
                <a:solidFill>
                  <a:srgbClr val="FFFFFF"/>
                </a:solidFill>
                <a:latin typeface="Montserrat Ultra-Bold"/>
                <a:ea typeface="Montserrat Ultra-Bold"/>
                <a:cs typeface="Montserrat Ultra-Bold"/>
                <a:sym typeface="Montserrat Ultra-Bold"/>
              </a:rPr>
              <a:t>Hackathon Team</a:t>
            </a:r>
          </a:p>
        </p:txBody>
      </p:sp>
      <p:sp>
        <p:nvSpPr>
          <p:cNvPr name="TextBox 26" id="26"/>
          <p:cNvSpPr txBox="true"/>
          <p:nvPr/>
        </p:nvSpPr>
        <p:spPr>
          <a:xfrm rot="0">
            <a:off x="3885407" y="1769756"/>
            <a:ext cx="5422700" cy="811530"/>
          </a:xfrm>
          <a:prstGeom prst="rect">
            <a:avLst/>
          </a:prstGeom>
        </p:spPr>
        <p:txBody>
          <a:bodyPr anchor="t" rtlCol="false" tIns="0" lIns="0" bIns="0" rIns="0">
            <a:spAutoFit/>
          </a:bodyPr>
          <a:lstStyle/>
          <a:p>
            <a:pPr algn="ctr" marL="0" indent="0" lvl="0">
              <a:lnSpc>
                <a:spcPts val="6719"/>
              </a:lnSpc>
              <a:spcBef>
                <a:spcPct val="0"/>
              </a:spcBef>
            </a:pPr>
            <a:r>
              <a:rPr lang="en-US" b="true" sz="4800">
                <a:solidFill>
                  <a:srgbClr val="967630"/>
                </a:solidFill>
                <a:latin typeface="Montserrat Ultra-Bold"/>
                <a:ea typeface="Montserrat Ultra-Bold"/>
                <a:cs typeface="Montserrat Ultra-Bold"/>
                <a:sym typeface="Montserrat Ultra-Bold"/>
              </a:rPr>
              <a:t>Meet the Best</a:t>
            </a:r>
          </a:p>
        </p:txBody>
      </p:sp>
      <p:sp>
        <p:nvSpPr>
          <p:cNvPr name="Freeform 27" id="27"/>
          <p:cNvSpPr/>
          <p:nvPr/>
        </p:nvSpPr>
        <p:spPr>
          <a:xfrm flipH="true" flipV="false" rot="0">
            <a:off x="-4787415" y="2928013"/>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8" id="28"/>
          <p:cNvSpPr/>
          <p:nvPr/>
        </p:nvSpPr>
        <p:spPr>
          <a:xfrm flipH="true" flipV="true" rot="-10800000">
            <a:off x="16747721" y="5554918"/>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9" id="29"/>
          <p:cNvGrpSpPr/>
          <p:nvPr/>
        </p:nvGrpSpPr>
        <p:grpSpPr>
          <a:xfrm rot="0">
            <a:off x="7698778" y="815066"/>
            <a:ext cx="2890443" cy="427269"/>
            <a:chOff x="0" y="0"/>
            <a:chExt cx="3853924" cy="569692"/>
          </a:xfrm>
        </p:grpSpPr>
        <p:sp>
          <p:nvSpPr>
            <p:cNvPr name="Freeform 30" id="30"/>
            <p:cNvSpPr/>
            <p:nvPr/>
          </p:nvSpPr>
          <p:spPr>
            <a:xfrm flipH="false" flipV="false" rot="0">
              <a:off x="0" y="0"/>
              <a:ext cx="569692" cy="569692"/>
            </a:xfrm>
            <a:custGeom>
              <a:avLst/>
              <a:gdLst/>
              <a:ahLst/>
              <a:cxnLst/>
              <a:rect r="r" b="b" t="t" l="l"/>
              <a:pathLst>
                <a:path h="569692" w="569692">
                  <a:moveTo>
                    <a:pt x="0" y="0"/>
                  </a:moveTo>
                  <a:lnTo>
                    <a:pt x="569692" y="0"/>
                  </a:lnTo>
                  <a:lnTo>
                    <a:pt x="569692" y="569692"/>
                  </a:lnTo>
                  <a:lnTo>
                    <a:pt x="0" y="5696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1" id="31"/>
            <p:cNvSpPr txBox="true"/>
            <p:nvPr/>
          </p:nvSpPr>
          <p:spPr>
            <a:xfrm rot="0">
              <a:off x="809979" y="7986"/>
              <a:ext cx="3043945" cy="51562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grpSp>
        <p:nvGrpSpPr>
          <p:cNvPr name="Group 2" id="2"/>
          <p:cNvGrpSpPr/>
          <p:nvPr/>
        </p:nvGrpSpPr>
        <p:grpSpPr>
          <a:xfrm rot="0">
            <a:off x="1864923" y="2341692"/>
            <a:ext cx="4497337" cy="5711133"/>
            <a:chOff x="0" y="0"/>
            <a:chExt cx="1184484" cy="1504167"/>
          </a:xfrm>
        </p:grpSpPr>
        <p:sp>
          <p:nvSpPr>
            <p:cNvPr name="Freeform 3" id="3"/>
            <p:cNvSpPr/>
            <p:nvPr/>
          </p:nvSpPr>
          <p:spPr>
            <a:xfrm flipH="false" flipV="false" rot="0">
              <a:off x="0" y="0"/>
              <a:ext cx="1184484" cy="1504167"/>
            </a:xfrm>
            <a:custGeom>
              <a:avLst/>
              <a:gdLst/>
              <a:ahLst/>
              <a:cxnLst/>
              <a:rect r="r" b="b" t="t" l="l"/>
              <a:pathLst>
                <a:path h="1504167" w="1184484">
                  <a:moveTo>
                    <a:pt x="0" y="0"/>
                  </a:moveTo>
                  <a:lnTo>
                    <a:pt x="1184484" y="0"/>
                  </a:lnTo>
                  <a:lnTo>
                    <a:pt x="1184484" y="1504167"/>
                  </a:lnTo>
                  <a:lnTo>
                    <a:pt x="0" y="1504167"/>
                  </a:lnTo>
                  <a:close/>
                </a:path>
              </a:pathLst>
            </a:custGeom>
            <a:solidFill>
              <a:srgbClr val="967630"/>
            </a:solidFill>
          </p:spPr>
        </p:sp>
        <p:sp>
          <p:nvSpPr>
            <p:cNvPr name="TextBox 4" id="4"/>
            <p:cNvSpPr txBox="true"/>
            <p:nvPr/>
          </p:nvSpPr>
          <p:spPr>
            <a:xfrm>
              <a:off x="0" y="-38100"/>
              <a:ext cx="1184484" cy="1542267"/>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2103048" y="2640158"/>
            <a:ext cx="5180286" cy="518028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0" t="-5555" r="0" b="-5555"/>
              </a:stretch>
            </a:blipFill>
          </p:spPr>
        </p:sp>
      </p:grpSp>
      <p:sp>
        <p:nvSpPr>
          <p:cNvPr name="TextBox 7" id="7"/>
          <p:cNvSpPr txBox="true"/>
          <p:nvPr/>
        </p:nvSpPr>
        <p:spPr>
          <a:xfrm rot="0">
            <a:off x="8513291" y="2987487"/>
            <a:ext cx="8746009" cy="8153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Bold"/>
                <a:ea typeface="Montserrat Bold"/>
                <a:cs typeface="Montserrat Bold"/>
                <a:sym typeface="Montserrat Bold"/>
              </a:rPr>
              <a:t>Simularea unor  valori generate de o motocicletă virtuală influențată de input fizic de la o telecomandă</a:t>
            </a:r>
          </a:p>
        </p:txBody>
      </p:sp>
      <p:sp>
        <p:nvSpPr>
          <p:cNvPr name="Freeform 8" id="8"/>
          <p:cNvSpPr/>
          <p:nvPr/>
        </p:nvSpPr>
        <p:spPr>
          <a:xfrm flipH="true" flipV="true" rot="-10800000">
            <a:off x="16523309" y="2294067"/>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true" flipV="false" rot="0">
            <a:off x="-2834137" y="8563527"/>
            <a:ext cx="6947729" cy="1389546"/>
          </a:xfrm>
          <a:custGeom>
            <a:avLst/>
            <a:gdLst/>
            <a:ahLst/>
            <a:cxnLst/>
            <a:rect r="r" b="b" t="t" l="l"/>
            <a:pathLst>
              <a:path h="1389546" w="6947729">
                <a:moveTo>
                  <a:pt x="6947729" y="0"/>
                </a:moveTo>
                <a:lnTo>
                  <a:pt x="0" y="0"/>
                </a:lnTo>
                <a:lnTo>
                  <a:pt x="0" y="1389546"/>
                </a:lnTo>
                <a:lnTo>
                  <a:pt x="6947729" y="1389546"/>
                </a:lnTo>
                <a:lnTo>
                  <a:pt x="694772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7698778" y="815066"/>
            <a:ext cx="2890443" cy="427269"/>
            <a:chOff x="0" y="0"/>
            <a:chExt cx="3853924" cy="569692"/>
          </a:xfrm>
        </p:grpSpPr>
        <p:sp>
          <p:nvSpPr>
            <p:cNvPr name="Freeform 11" id="11"/>
            <p:cNvSpPr/>
            <p:nvPr/>
          </p:nvSpPr>
          <p:spPr>
            <a:xfrm flipH="false" flipV="false" rot="0">
              <a:off x="0" y="0"/>
              <a:ext cx="569692" cy="569692"/>
            </a:xfrm>
            <a:custGeom>
              <a:avLst/>
              <a:gdLst/>
              <a:ahLst/>
              <a:cxnLst/>
              <a:rect r="r" b="b" t="t" l="l"/>
              <a:pathLst>
                <a:path h="569692" w="569692">
                  <a:moveTo>
                    <a:pt x="0" y="0"/>
                  </a:moveTo>
                  <a:lnTo>
                    <a:pt x="569692" y="0"/>
                  </a:lnTo>
                  <a:lnTo>
                    <a:pt x="569692" y="569692"/>
                  </a:lnTo>
                  <a:lnTo>
                    <a:pt x="0" y="569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809979" y="7986"/>
              <a:ext cx="3043945" cy="51562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grpSp>
      <p:sp>
        <p:nvSpPr>
          <p:cNvPr name="TextBox 13" id="13"/>
          <p:cNvSpPr txBox="true"/>
          <p:nvPr/>
        </p:nvSpPr>
        <p:spPr>
          <a:xfrm rot="0">
            <a:off x="15787318" y="8644890"/>
            <a:ext cx="1471982" cy="613410"/>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FFFFFF"/>
                </a:solidFill>
                <a:latin typeface="Montserrat Ultra-Bold"/>
                <a:ea typeface="Montserrat Ultra-Bold"/>
                <a:cs typeface="Montserrat Ultra-Bold"/>
                <a:sym typeface="Montserrat Ultra-Bold"/>
              </a:rPr>
              <a:t>03</a:t>
            </a:r>
          </a:p>
        </p:txBody>
      </p:sp>
      <p:grpSp>
        <p:nvGrpSpPr>
          <p:cNvPr name="Group 14" id="14"/>
          <p:cNvGrpSpPr/>
          <p:nvPr/>
        </p:nvGrpSpPr>
        <p:grpSpPr>
          <a:xfrm rot="0">
            <a:off x="8513291" y="2128332"/>
            <a:ext cx="5695320" cy="725805"/>
            <a:chOff x="0" y="0"/>
            <a:chExt cx="7593760" cy="967740"/>
          </a:xfrm>
        </p:grpSpPr>
        <p:sp>
          <p:nvSpPr>
            <p:cNvPr name="TextBox 15" id="15"/>
            <p:cNvSpPr txBox="true"/>
            <p:nvPr/>
          </p:nvSpPr>
          <p:spPr>
            <a:xfrm rot="0">
              <a:off x="4549138" y="-85725"/>
              <a:ext cx="3044623" cy="1053465"/>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FFFFFF"/>
                  </a:solidFill>
                  <a:latin typeface="Montserrat Ultra-Bold"/>
                  <a:ea typeface="Montserrat Ultra-Bold"/>
                  <a:cs typeface="Montserrat Ultra-Bold"/>
                  <a:sym typeface="Montserrat Ultra-Bold"/>
                </a:rPr>
                <a:t>aleasă</a:t>
              </a:r>
            </a:p>
          </p:txBody>
        </p:sp>
        <p:sp>
          <p:nvSpPr>
            <p:cNvPr name="TextBox 16" id="16"/>
            <p:cNvSpPr txBox="true"/>
            <p:nvPr/>
          </p:nvSpPr>
          <p:spPr>
            <a:xfrm rot="0">
              <a:off x="0" y="-85725"/>
              <a:ext cx="4342680" cy="1053465"/>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967630"/>
                  </a:solidFill>
                  <a:latin typeface="Montserrat Ultra-Bold"/>
                  <a:ea typeface="Montserrat Ultra-Bold"/>
                  <a:cs typeface="Montserrat Ultra-Bold"/>
                  <a:sym typeface="Montserrat Ultra-Bold"/>
                </a:rPr>
                <a:t>Problema</a:t>
              </a:r>
            </a:p>
          </p:txBody>
        </p:sp>
      </p:grpSp>
      <p:sp>
        <p:nvSpPr>
          <p:cNvPr name="TextBox 17" id="17"/>
          <p:cNvSpPr txBox="true"/>
          <p:nvPr/>
        </p:nvSpPr>
        <p:spPr>
          <a:xfrm rot="0">
            <a:off x="8513291" y="3936177"/>
            <a:ext cx="7079959" cy="4070985"/>
          </a:xfrm>
          <a:prstGeom prst="rect">
            <a:avLst/>
          </a:prstGeom>
        </p:spPr>
        <p:txBody>
          <a:bodyPr anchor="t" rtlCol="false" tIns="0" lIns="0" bIns="0" rIns="0">
            <a:spAutoFit/>
          </a:bodyPr>
          <a:lstStyle/>
          <a:p>
            <a:pPr algn="just" marL="0" indent="0" lvl="0">
              <a:lnSpc>
                <a:spcPts val="2940"/>
              </a:lnSpc>
              <a:spcBef>
                <a:spcPct val="0"/>
              </a:spcBef>
            </a:pPr>
            <a:r>
              <a:rPr lang="en-US" sz="2100">
                <a:solidFill>
                  <a:srgbClr val="FFFFFF"/>
                </a:solidFill>
                <a:latin typeface="Montserrat"/>
                <a:ea typeface="Montserrat"/>
                <a:cs typeface="Montserrat"/>
                <a:sym typeface="Montserrat"/>
              </a:rPr>
              <a:t>Am creat o copie digitală a unei motociclete care generează valorile: RPM, Viteză, Temperatră, CO2, și Consum. Aceste valori sunt influentate de o “telecomanda” construită cu ajutorul unei ESP32-C6 DevKitC-1, care trimite citirile de acceleratie, frana si viteza aleasa prin port serial catre un model AI  GRU (gated recurrent unit), antrenat pe date reale, luate de la un motor C14NE, de 140cc, care ulterior trimite datele relevante catre o aplicatie scrisa in JAVA, prin protocolul UDP, pentru viteza de raspuns cat mai ridicata.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TextBox 2" id="2"/>
          <p:cNvSpPr txBox="true"/>
          <p:nvPr/>
        </p:nvSpPr>
        <p:spPr>
          <a:xfrm rot="0">
            <a:off x="15787318" y="8644890"/>
            <a:ext cx="1471982" cy="613410"/>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FFFFFF"/>
                </a:solidFill>
                <a:latin typeface="Montserrat Ultra-Bold"/>
                <a:ea typeface="Montserrat Ultra-Bold"/>
                <a:cs typeface="Montserrat Ultra-Bold"/>
                <a:sym typeface="Montserrat Ultra-Bold"/>
              </a:rPr>
              <a:t>04</a:t>
            </a:r>
          </a:p>
        </p:txBody>
      </p:sp>
      <p:grpSp>
        <p:nvGrpSpPr>
          <p:cNvPr name="Group 3" id="3"/>
          <p:cNvGrpSpPr/>
          <p:nvPr/>
        </p:nvGrpSpPr>
        <p:grpSpPr>
          <a:xfrm rot="0">
            <a:off x="12691090" y="1796507"/>
            <a:ext cx="3859382" cy="3123682"/>
            <a:chOff x="0" y="0"/>
            <a:chExt cx="1016463" cy="822698"/>
          </a:xfrm>
        </p:grpSpPr>
        <p:sp>
          <p:nvSpPr>
            <p:cNvPr name="Freeform 4" id="4"/>
            <p:cNvSpPr/>
            <p:nvPr/>
          </p:nvSpPr>
          <p:spPr>
            <a:xfrm flipH="false" flipV="false" rot="0">
              <a:off x="0" y="0"/>
              <a:ext cx="1016463" cy="822698"/>
            </a:xfrm>
            <a:custGeom>
              <a:avLst/>
              <a:gdLst/>
              <a:ahLst/>
              <a:cxnLst/>
              <a:rect r="r" b="b" t="t" l="l"/>
              <a:pathLst>
                <a:path h="822698" w="1016463">
                  <a:moveTo>
                    <a:pt x="0" y="0"/>
                  </a:moveTo>
                  <a:lnTo>
                    <a:pt x="1016463" y="0"/>
                  </a:lnTo>
                  <a:lnTo>
                    <a:pt x="1016463" y="822698"/>
                  </a:lnTo>
                  <a:lnTo>
                    <a:pt x="0" y="822698"/>
                  </a:lnTo>
                  <a:close/>
                </a:path>
              </a:pathLst>
            </a:custGeom>
            <a:solidFill>
              <a:srgbClr val="967630"/>
            </a:solidFill>
          </p:spPr>
        </p:sp>
        <p:sp>
          <p:nvSpPr>
            <p:cNvPr name="TextBox 5" id="5"/>
            <p:cNvSpPr txBox="true"/>
            <p:nvPr/>
          </p:nvSpPr>
          <p:spPr>
            <a:xfrm>
              <a:off x="0" y="-38100"/>
              <a:ext cx="1016463" cy="860798"/>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10301811" y="2036134"/>
            <a:ext cx="6015642" cy="2644429"/>
            <a:chOff x="0" y="0"/>
            <a:chExt cx="931980" cy="409691"/>
          </a:xfrm>
        </p:grpSpPr>
        <p:sp>
          <p:nvSpPr>
            <p:cNvPr name="Freeform 7" id="7"/>
            <p:cNvSpPr/>
            <p:nvPr/>
          </p:nvSpPr>
          <p:spPr>
            <a:xfrm flipH="false" flipV="false" rot="0">
              <a:off x="0" y="0"/>
              <a:ext cx="931980" cy="409691"/>
            </a:xfrm>
            <a:custGeom>
              <a:avLst/>
              <a:gdLst/>
              <a:ahLst/>
              <a:cxnLst/>
              <a:rect r="r" b="b" t="t" l="l"/>
              <a:pathLst>
                <a:path h="409691" w="931980">
                  <a:moveTo>
                    <a:pt x="0" y="0"/>
                  </a:moveTo>
                  <a:lnTo>
                    <a:pt x="931980" y="0"/>
                  </a:lnTo>
                  <a:lnTo>
                    <a:pt x="931980" y="409691"/>
                  </a:lnTo>
                  <a:lnTo>
                    <a:pt x="0" y="409691"/>
                  </a:lnTo>
                  <a:close/>
                </a:path>
              </a:pathLst>
            </a:custGeom>
            <a:blipFill>
              <a:blip r:embed="rId2"/>
              <a:stretch>
                <a:fillRect l="0" t="-25780" r="0" b="-25780"/>
              </a:stretch>
            </a:blipFill>
          </p:spPr>
        </p:sp>
      </p:grpSp>
      <p:sp>
        <p:nvSpPr>
          <p:cNvPr name="Freeform 8" id="8"/>
          <p:cNvSpPr/>
          <p:nvPr/>
        </p:nvSpPr>
        <p:spPr>
          <a:xfrm flipH="false" flipV="false" rot="0">
            <a:off x="1737528" y="5067300"/>
            <a:ext cx="607485" cy="793626"/>
          </a:xfrm>
          <a:custGeom>
            <a:avLst/>
            <a:gdLst/>
            <a:ahLst/>
            <a:cxnLst/>
            <a:rect r="r" b="b" t="t" l="l"/>
            <a:pathLst>
              <a:path h="793626" w="607485">
                <a:moveTo>
                  <a:pt x="0" y="0"/>
                </a:moveTo>
                <a:lnTo>
                  <a:pt x="607484" y="0"/>
                </a:lnTo>
                <a:lnTo>
                  <a:pt x="607484" y="793626"/>
                </a:lnTo>
                <a:lnTo>
                  <a:pt x="0" y="7936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737528" y="6528036"/>
            <a:ext cx="7406472" cy="2585085"/>
          </a:xfrm>
          <a:prstGeom prst="rect">
            <a:avLst/>
          </a:prstGeom>
        </p:spPr>
        <p:txBody>
          <a:bodyPr anchor="t" rtlCol="false" tIns="0" lIns="0" bIns="0" rIns="0">
            <a:spAutoFit/>
          </a:bodyPr>
          <a:lstStyle/>
          <a:p>
            <a:pPr algn="just" marL="0" indent="0" lvl="0">
              <a:lnSpc>
                <a:spcPts val="2940"/>
              </a:lnSpc>
              <a:spcBef>
                <a:spcPct val="0"/>
              </a:spcBef>
            </a:pPr>
            <a:r>
              <a:rPr lang="en-US" sz="2100">
                <a:solidFill>
                  <a:srgbClr val="FFFFFF"/>
                </a:solidFill>
                <a:latin typeface="Montserrat"/>
                <a:ea typeface="Montserrat"/>
                <a:cs typeface="Montserrat"/>
                <a:sym typeface="Montserrat"/>
              </a:rPr>
              <a:t>Folosim o interfată construită în Java bazată pe Java.swing pentru a genera ferestre. Interfata are două main stage-uri: waiting: pagina care așteaptă ca pachetele să fie trimise pe portul UDP și dashboard: care este pagina principală de prezentare a valorilor generate, construită să seene cu un dashboard de motocicletă.</a:t>
            </a:r>
          </a:p>
        </p:txBody>
      </p:sp>
      <p:sp>
        <p:nvSpPr>
          <p:cNvPr name="TextBox 10" id="10"/>
          <p:cNvSpPr txBox="true"/>
          <p:nvPr/>
        </p:nvSpPr>
        <p:spPr>
          <a:xfrm rot="0">
            <a:off x="1737528" y="5994276"/>
            <a:ext cx="4547198"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Bold"/>
                <a:ea typeface="Montserrat Bold"/>
                <a:cs typeface="Montserrat Bold"/>
                <a:sym typeface="Montserrat Bold"/>
              </a:rPr>
              <a:t>Interfată de vizualizare date</a:t>
            </a:r>
          </a:p>
        </p:txBody>
      </p:sp>
      <p:grpSp>
        <p:nvGrpSpPr>
          <p:cNvPr name="Group 11" id="11"/>
          <p:cNvGrpSpPr/>
          <p:nvPr/>
        </p:nvGrpSpPr>
        <p:grpSpPr>
          <a:xfrm rot="0">
            <a:off x="10465735" y="5167313"/>
            <a:ext cx="6281016" cy="3817620"/>
            <a:chOff x="0" y="0"/>
            <a:chExt cx="1654259" cy="1005464"/>
          </a:xfrm>
        </p:grpSpPr>
        <p:sp>
          <p:nvSpPr>
            <p:cNvPr name="Freeform 12" id="12"/>
            <p:cNvSpPr/>
            <p:nvPr/>
          </p:nvSpPr>
          <p:spPr>
            <a:xfrm flipH="false" flipV="false" rot="0">
              <a:off x="0" y="0"/>
              <a:ext cx="1654259" cy="1005464"/>
            </a:xfrm>
            <a:custGeom>
              <a:avLst/>
              <a:gdLst/>
              <a:ahLst/>
              <a:cxnLst/>
              <a:rect r="r" b="b" t="t" l="l"/>
              <a:pathLst>
                <a:path h="1005464" w="1654259">
                  <a:moveTo>
                    <a:pt x="0" y="0"/>
                  </a:moveTo>
                  <a:lnTo>
                    <a:pt x="1654259" y="0"/>
                  </a:lnTo>
                  <a:lnTo>
                    <a:pt x="1654259" y="1005464"/>
                  </a:lnTo>
                  <a:lnTo>
                    <a:pt x="0" y="1005464"/>
                  </a:lnTo>
                  <a:close/>
                </a:path>
              </a:pathLst>
            </a:custGeom>
            <a:solidFill>
              <a:srgbClr val="967630"/>
            </a:solidFill>
          </p:spPr>
        </p:sp>
        <p:sp>
          <p:nvSpPr>
            <p:cNvPr name="TextBox 13" id="13"/>
            <p:cNvSpPr txBox="true"/>
            <p:nvPr/>
          </p:nvSpPr>
          <p:spPr>
            <a:xfrm>
              <a:off x="0" y="-38100"/>
              <a:ext cx="1654259" cy="1043564"/>
            </a:xfrm>
            <a:prstGeom prst="rect">
              <a:avLst/>
            </a:prstGeom>
          </p:spPr>
          <p:txBody>
            <a:bodyPr anchor="ctr" rtlCol="false" tIns="50800" lIns="50800" bIns="50800" rIns="50800"/>
            <a:lstStyle/>
            <a:p>
              <a:pPr algn="ctr">
                <a:lnSpc>
                  <a:spcPts val="2940"/>
                </a:lnSpc>
              </a:pPr>
            </a:p>
          </p:txBody>
        </p:sp>
      </p:grpSp>
      <p:sp>
        <p:nvSpPr>
          <p:cNvPr name="Freeform 14" id="14"/>
          <p:cNvSpPr/>
          <p:nvPr/>
        </p:nvSpPr>
        <p:spPr>
          <a:xfrm flipH="false" flipV="false" rot="0">
            <a:off x="10884492" y="5417820"/>
            <a:ext cx="793626" cy="793626"/>
          </a:xfrm>
          <a:custGeom>
            <a:avLst/>
            <a:gdLst/>
            <a:ahLst/>
            <a:cxnLst/>
            <a:rect r="r" b="b" t="t" l="l"/>
            <a:pathLst>
              <a:path h="793626" w="793626">
                <a:moveTo>
                  <a:pt x="0" y="0"/>
                </a:moveTo>
                <a:lnTo>
                  <a:pt x="793626" y="0"/>
                </a:lnTo>
                <a:lnTo>
                  <a:pt x="793626" y="793626"/>
                </a:lnTo>
                <a:lnTo>
                  <a:pt x="0" y="7936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0964485" y="6211446"/>
            <a:ext cx="5283516" cy="2563967"/>
          </a:xfrm>
          <a:prstGeom prst="rect">
            <a:avLst/>
          </a:prstGeom>
        </p:spPr>
        <p:txBody>
          <a:bodyPr anchor="t" rtlCol="false" tIns="0" lIns="0" bIns="0" rIns="0">
            <a:spAutoFit/>
          </a:bodyPr>
          <a:lstStyle/>
          <a:p>
            <a:pPr algn="just" marL="0" indent="0" lvl="0">
              <a:lnSpc>
                <a:spcPts val="2915"/>
              </a:lnSpc>
              <a:spcBef>
                <a:spcPct val="0"/>
              </a:spcBef>
            </a:pPr>
            <a:r>
              <a:rPr lang="en-US" sz="2082">
                <a:solidFill>
                  <a:srgbClr val="141415"/>
                </a:solidFill>
                <a:latin typeface="Montserrat"/>
                <a:ea typeface="Montserrat"/>
                <a:cs typeface="Montserrat"/>
                <a:sym typeface="Montserrat"/>
              </a:rPr>
              <a:t>Pentru antrenarea AI-ului s-au folosit PyTorch, Miniconda cat si Pandas, codul fiind scris in Python pentru o implementare usoara si eficienta. Modelul a fost creat cu 3 straturi: stratul 1 si 3 drept array, iar stratul 2 un layer de rectificare liniara.</a:t>
            </a:r>
          </a:p>
        </p:txBody>
      </p:sp>
      <p:sp>
        <p:nvSpPr>
          <p:cNvPr name="TextBox 16" id="16"/>
          <p:cNvSpPr txBox="true"/>
          <p:nvPr/>
        </p:nvSpPr>
        <p:spPr>
          <a:xfrm rot="0">
            <a:off x="12461204" y="5372100"/>
            <a:ext cx="3856250" cy="8153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141415"/>
                </a:solidFill>
                <a:latin typeface="Montserrat Bold"/>
                <a:ea typeface="Montserrat Bold"/>
                <a:cs typeface="Montserrat Bold"/>
                <a:sym typeface="Montserrat Bold"/>
              </a:rPr>
              <a:t>Antrenarea de AI si procesare de date</a:t>
            </a:r>
          </a:p>
        </p:txBody>
      </p:sp>
      <p:sp>
        <p:nvSpPr>
          <p:cNvPr name="Freeform 17" id="17"/>
          <p:cNvSpPr/>
          <p:nvPr/>
        </p:nvSpPr>
        <p:spPr>
          <a:xfrm flipH="true" flipV="false" rot="0">
            <a:off x="-3794825" y="9184958"/>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true" flipV="true" rot="-10800000">
            <a:off x="16559997" y="5067300"/>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9" id="19"/>
          <p:cNvGrpSpPr/>
          <p:nvPr/>
        </p:nvGrpSpPr>
        <p:grpSpPr>
          <a:xfrm rot="0">
            <a:off x="7698778" y="815066"/>
            <a:ext cx="2890443" cy="427269"/>
            <a:chOff x="0" y="0"/>
            <a:chExt cx="3853924" cy="569692"/>
          </a:xfrm>
        </p:grpSpPr>
        <p:sp>
          <p:nvSpPr>
            <p:cNvPr name="Freeform 20" id="20"/>
            <p:cNvSpPr/>
            <p:nvPr/>
          </p:nvSpPr>
          <p:spPr>
            <a:xfrm flipH="false" flipV="false" rot="0">
              <a:off x="0" y="0"/>
              <a:ext cx="569692" cy="569692"/>
            </a:xfrm>
            <a:custGeom>
              <a:avLst/>
              <a:gdLst/>
              <a:ahLst/>
              <a:cxnLst/>
              <a:rect r="r" b="b" t="t" l="l"/>
              <a:pathLst>
                <a:path h="569692" w="569692">
                  <a:moveTo>
                    <a:pt x="0" y="0"/>
                  </a:moveTo>
                  <a:lnTo>
                    <a:pt x="569692" y="0"/>
                  </a:lnTo>
                  <a:lnTo>
                    <a:pt x="569692" y="569692"/>
                  </a:lnTo>
                  <a:lnTo>
                    <a:pt x="0" y="5696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809979" y="7986"/>
              <a:ext cx="3043945" cy="51562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grpSp>
      <p:sp>
        <p:nvSpPr>
          <p:cNvPr name="TextBox 22" id="22"/>
          <p:cNvSpPr txBox="true"/>
          <p:nvPr/>
        </p:nvSpPr>
        <p:spPr>
          <a:xfrm rot="0">
            <a:off x="4179556" y="1577946"/>
            <a:ext cx="2565655" cy="811530"/>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FFFFFF"/>
                </a:solidFill>
                <a:latin typeface="Montserrat Ultra-Bold"/>
                <a:ea typeface="Montserrat Ultra-Bold"/>
                <a:cs typeface="Montserrat Ultra-Bold"/>
                <a:sym typeface="Montserrat Ultra-Bold"/>
              </a:rPr>
              <a:t>tehnică</a:t>
            </a:r>
          </a:p>
        </p:txBody>
      </p:sp>
      <p:sp>
        <p:nvSpPr>
          <p:cNvPr name="TextBox 23" id="23"/>
          <p:cNvSpPr txBox="true"/>
          <p:nvPr/>
        </p:nvSpPr>
        <p:spPr>
          <a:xfrm rot="0">
            <a:off x="1737528" y="1587506"/>
            <a:ext cx="3257010" cy="811530"/>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967630"/>
                </a:solidFill>
                <a:latin typeface="Montserrat Ultra-Bold"/>
                <a:ea typeface="Montserrat Ultra-Bold"/>
                <a:cs typeface="Montserrat Ultra-Bold"/>
                <a:sym typeface="Montserrat Ultra-Bold"/>
              </a:rPr>
              <a:t>Soluția</a:t>
            </a:r>
          </a:p>
        </p:txBody>
      </p:sp>
      <p:sp>
        <p:nvSpPr>
          <p:cNvPr name="TextBox 24" id="24"/>
          <p:cNvSpPr txBox="true"/>
          <p:nvPr/>
        </p:nvSpPr>
        <p:spPr>
          <a:xfrm rot="0">
            <a:off x="1737528" y="3056586"/>
            <a:ext cx="7710533" cy="1099185"/>
          </a:xfrm>
          <a:prstGeom prst="rect">
            <a:avLst/>
          </a:prstGeom>
        </p:spPr>
        <p:txBody>
          <a:bodyPr anchor="t" rtlCol="false" tIns="0" lIns="0" bIns="0" rIns="0">
            <a:spAutoFit/>
          </a:bodyPr>
          <a:lstStyle/>
          <a:p>
            <a:pPr algn="just" marL="0" indent="0" lvl="0">
              <a:lnSpc>
                <a:spcPts val="2940"/>
              </a:lnSpc>
              <a:spcBef>
                <a:spcPct val="0"/>
              </a:spcBef>
            </a:pPr>
            <a:r>
              <a:rPr lang="en-US" sz="2100">
                <a:solidFill>
                  <a:srgbClr val="FFFFFF"/>
                </a:solidFill>
                <a:latin typeface="Montserrat"/>
                <a:ea typeface="Montserrat"/>
                <a:cs typeface="Montserrat"/>
                <a:sym typeface="Montserrat"/>
              </a:rPr>
              <a:t>Pentru scriere catre calculator, se foloseste protocolul UART, folosind functiile din clasa Serial. De asemenea, se fac citirile de butoane cu GPIO.</a:t>
            </a:r>
          </a:p>
        </p:txBody>
      </p:sp>
      <p:sp>
        <p:nvSpPr>
          <p:cNvPr name="TextBox 25" id="25"/>
          <p:cNvSpPr txBox="true"/>
          <p:nvPr/>
        </p:nvSpPr>
        <p:spPr>
          <a:xfrm rot="0">
            <a:off x="1737528" y="2522826"/>
            <a:ext cx="7710533"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Bold"/>
                <a:ea typeface="Montserrat Bold"/>
                <a:cs typeface="Montserrat Bold"/>
                <a:sym typeface="Montserrat Bold"/>
              </a:rPr>
              <a:t>Captarea si transmisia de date cu ESP32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Freeform 2" id="2"/>
          <p:cNvSpPr/>
          <p:nvPr/>
        </p:nvSpPr>
        <p:spPr>
          <a:xfrm flipH="false" flipV="false" rot="0">
            <a:off x="3439074" y="6358122"/>
            <a:ext cx="9643768" cy="1928754"/>
          </a:xfrm>
          <a:custGeom>
            <a:avLst/>
            <a:gdLst/>
            <a:ahLst/>
            <a:cxnLst/>
            <a:rect r="r" b="b" t="t" l="l"/>
            <a:pathLst>
              <a:path h="1928754" w="9643768">
                <a:moveTo>
                  <a:pt x="0" y="0"/>
                </a:moveTo>
                <a:lnTo>
                  <a:pt x="9643768" y="0"/>
                </a:lnTo>
                <a:lnTo>
                  <a:pt x="9643768" y="1928753"/>
                </a:lnTo>
                <a:lnTo>
                  <a:pt x="0" y="1928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5205158" y="6837847"/>
            <a:ext cx="9643768" cy="1928754"/>
          </a:xfrm>
          <a:custGeom>
            <a:avLst/>
            <a:gdLst/>
            <a:ahLst/>
            <a:cxnLst/>
            <a:rect r="r" b="b" t="t" l="l"/>
            <a:pathLst>
              <a:path h="1928754" w="9643768">
                <a:moveTo>
                  <a:pt x="9643768" y="1928753"/>
                </a:moveTo>
                <a:lnTo>
                  <a:pt x="0" y="1928753"/>
                </a:lnTo>
                <a:lnTo>
                  <a:pt x="0" y="0"/>
                </a:lnTo>
                <a:lnTo>
                  <a:pt x="9643768" y="0"/>
                </a:lnTo>
                <a:lnTo>
                  <a:pt x="9643768" y="192875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805284" y="2766875"/>
            <a:ext cx="8677431" cy="5803032"/>
          </a:xfrm>
          <a:custGeom>
            <a:avLst/>
            <a:gdLst/>
            <a:ahLst/>
            <a:cxnLst/>
            <a:rect r="r" b="b" t="t" l="l"/>
            <a:pathLst>
              <a:path h="5803032" w="8677431">
                <a:moveTo>
                  <a:pt x="0" y="0"/>
                </a:moveTo>
                <a:lnTo>
                  <a:pt x="8677432" y="0"/>
                </a:lnTo>
                <a:lnTo>
                  <a:pt x="8677432" y="5803032"/>
                </a:lnTo>
                <a:lnTo>
                  <a:pt x="0" y="5803032"/>
                </a:lnTo>
                <a:lnTo>
                  <a:pt x="0" y="0"/>
                </a:lnTo>
                <a:close/>
              </a:path>
            </a:pathLst>
          </a:custGeom>
          <a:blipFill>
            <a:blip r:embed="rId4"/>
            <a:stretch>
              <a:fillRect l="0" t="0" r="0" b="0"/>
            </a:stretch>
          </a:blipFill>
        </p:spPr>
      </p:sp>
      <p:sp>
        <p:nvSpPr>
          <p:cNvPr name="TextBox 5" id="5"/>
          <p:cNvSpPr txBox="true"/>
          <p:nvPr/>
        </p:nvSpPr>
        <p:spPr>
          <a:xfrm rot="0">
            <a:off x="2992785" y="847725"/>
            <a:ext cx="12302430" cy="8785226"/>
          </a:xfrm>
          <a:prstGeom prst="rect">
            <a:avLst/>
          </a:prstGeom>
        </p:spPr>
        <p:txBody>
          <a:bodyPr anchor="t" rtlCol="false" tIns="0" lIns="0" bIns="0" rIns="0">
            <a:spAutoFit/>
          </a:bodyPr>
          <a:lstStyle/>
          <a:p>
            <a:pPr algn="ctr">
              <a:lnSpc>
                <a:spcPts val="13999"/>
              </a:lnSpc>
            </a:pPr>
            <a:r>
              <a:rPr lang="en-US" b="true" sz="9999" spc="769">
                <a:solidFill>
                  <a:srgbClr val="967630"/>
                </a:solidFill>
                <a:latin typeface="Montserrat Ultra-Bold"/>
                <a:ea typeface="Montserrat Ultra-Bold"/>
                <a:cs typeface="Montserrat Ultra-Bold"/>
                <a:sym typeface="Montserrat Ultra-Bold"/>
              </a:rPr>
              <a:t>Demo Live și</a:t>
            </a:r>
          </a:p>
          <a:p>
            <a:pPr algn="ctr">
              <a:lnSpc>
                <a:spcPts val="13999"/>
              </a:lnSpc>
            </a:pPr>
          </a:p>
          <a:p>
            <a:pPr algn="ctr">
              <a:lnSpc>
                <a:spcPts val="13999"/>
              </a:lnSpc>
            </a:pPr>
          </a:p>
          <a:p>
            <a:pPr algn="ctr">
              <a:lnSpc>
                <a:spcPts val="13999"/>
              </a:lnSpc>
            </a:pPr>
          </a:p>
          <a:p>
            <a:pPr algn="ctr" marL="0" indent="0" lvl="0">
              <a:lnSpc>
                <a:spcPts val="13999"/>
              </a:lnSpc>
              <a:spcBef>
                <a:spcPct val="0"/>
              </a:spcBef>
            </a:pPr>
            <a:r>
              <a:rPr lang="en-US" b="true" sz="9999" spc="769">
                <a:solidFill>
                  <a:srgbClr val="967630"/>
                </a:solidFill>
                <a:latin typeface="Montserrat Ultra-Bold"/>
                <a:ea typeface="Montserrat Ultra-Bold"/>
                <a:cs typeface="Montserrat Ultra-Bold"/>
                <a:sym typeface="Montserrat Ultra-Bold"/>
              </a:rPr>
              <a:t> Simulare</a:t>
            </a:r>
          </a:p>
        </p:txBody>
      </p:sp>
      <p:sp>
        <p:nvSpPr>
          <p:cNvPr name="Freeform 6" id="6"/>
          <p:cNvSpPr/>
          <p:nvPr/>
        </p:nvSpPr>
        <p:spPr>
          <a:xfrm flipH="true" flipV="false" rot="0">
            <a:off x="-5481254" y="-915657"/>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true" rot="-10800000">
            <a:off x="15809565" y="3680460"/>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5787318" y="8644890"/>
            <a:ext cx="1471982" cy="613410"/>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FFFFFF"/>
                </a:solidFill>
                <a:latin typeface="Montserrat Ultra-Bold"/>
                <a:ea typeface="Montserrat Ultra-Bold"/>
                <a:cs typeface="Montserrat Ultra-Bold"/>
                <a:sym typeface="Montserrat Ultra-Bold"/>
              </a:rPr>
              <a:t>06</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grpSp>
        <p:nvGrpSpPr>
          <p:cNvPr name="Group 2" id="2"/>
          <p:cNvGrpSpPr/>
          <p:nvPr/>
        </p:nvGrpSpPr>
        <p:grpSpPr>
          <a:xfrm rot="0">
            <a:off x="10508554" y="3743719"/>
            <a:ext cx="5600062" cy="3379688"/>
            <a:chOff x="0" y="0"/>
            <a:chExt cx="1474914" cy="890124"/>
          </a:xfrm>
        </p:grpSpPr>
        <p:sp>
          <p:nvSpPr>
            <p:cNvPr name="Freeform 3" id="3"/>
            <p:cNvSpPr/>
            <p:nvPr/>
          </p:nvSpPr>
          <p:spPr>
            <a:xfrm flipH="false" flipV="false" rot="0">
              <a:off x="0" y="0"/>
              <a:ext cx="1474914" cy="890124"/>
            </a:xfrm>
            <a:custGeom>
              <a:avLst/>
              <a:gdLst/>
              <a:ahLst/>
              <a:cxnLst/>
              <a:rect r="r" b="b" t="t" l="l"/>
              <a:pathLst>
                <a:path h="890124" w="1474914">
                  <a:moveTo>
                    <a:pt x="0" y="0"/>
                  </a:moveTo>
                  <a:lnTo>
                    <a:pt x="1474914" y="0"/>
                  </a:lnTo>
                  <a:lnTo>
                    <a:pt x="1474914" y="890124"/>
                  </a:lnTo>
                  <a:lnTo>
                    <a:pt x="0" y="890124"/>
                  </a:lnTo>
                  <a:close/>
                </a:path>
              </a:pathLst>
            </a:custGeom>
            <a:solidFill>
              <a:srgbClr val="967630"/>
            </a:solidFill>
          </p:spPr>
        </p:sp>
        <p:sp>
          <p:nvSpPr>
            <p:cNvPr name="TextBox 4" id="4"/>
            <p:cNvSpPr txBox="true"/>
            <p:nvPr/>
          </p:nvSpPr>
          <p:spPr>
            <a:xfrm>
              <a:off x="0" y="-38100"/>
              <a:ext cx="1474914" cy="928224"/>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9669079" y="2432478"/>
            <a:ext cx="7279013" cy="4487122"/>
            <a:chOff x="0" y="0"/>
            <a:chExt cx="1218915" cy="751396"/>
          </a:xfrm>
        </p:grpSpPr>
        <p:sp>
          <p:nvSpPr>
            <p:cNvPr name="Freeform 6" id="6"/>
            <p:cNvSpPr/>
            <p:nvPr/>
          </p:nvSpPr>
          <p:spPr>
            <a:xfrm flipH="false" flipV="false" rot="0">
              <a:off x="0" y="0"/>
              <a:ext cx="1218915" cy="751396"/>
            </a:xfrm>
            <a:custGeom>
              <a:avLst/>
              <a:gdLst/>
              <a:ahLst/>
              <a:cxnLst/>
              <a:rect r="r" b="b" t="t" l="l"/>
              <a:pathLst>
                <a:path h="751396" w="1218915">
                  <a:moveTo>
                    <a:pt x="0" y="0"/>
                  </a:moveTo>
                  <a:lnTo>
                    <a:pt x="1218915" y="0"/>
                  </a:lnTo>
                  <a:lnTo>
                    <a:pt x="1218915" y="751396"/>
                  </a:lnTo>
                  <a:lnTo>
                    <a:pt x="0" y="751396"/>
                  </a:lnTo>
                  <a:close/>
                </a:path>
              </a:pathLst>
            </a:custGeom>
            <a:blipFill>
              <a:blip r:embed="rId2"/>
              <a:stretch>
                <a:fillRect l="-1370" t="0" r="-1370" b="0"/>
              </a:stretch>
            </a:blipFill>
          </p:spPr>
        </p:sp>
      </p:grpSp>
      <p:sp>
        <p:nvSpPr>
          <p:cNvPr name="Freeform 7" id="7"/>
          <p:cNvSpPr/>
          <p:nvPr/>
        </p:nvSpPr>
        <p:spPr>
          <a:xfrm flipH="true" flipV="false" rot="0">
            <a:off x="-5054107" y="8526780"/>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true" rot="-10800000">
            <a:off x="16523309" y="6543767"/>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7698778" y="815066"/>
            <a:ext cx="2890443" cy="427269"/>
            <a:chOff x="0" y="0"/>
            <a:chExt cx="3853924" cy="569692"/>
          </a:xfrm>
        </p:grpSpPr>
        <p:sp>
          <p:nvSpPr>
            <p:cNvPr name="Freeform 10" id="10"/>
            <p:cNvSpPr/>
            <p:nvPr/>
          </p:nvSpPr>
          <p:spPr>
            <a:xfrm flipH="false" flipV="false" rot="0">
              <a:off x="0" y="0"/>
              <a:ext cx="569692" cy="569692"/>
            </a:xfrm>
            <a:custGeom>
              <a:avLst/>
              <a:gdLst/>
              <a:ahLst/>
              <a:cxnLst/>
              <a:rect r="r" b="b" t="t" l="l"/>
              <a:pathLst>
                <a:path h="569692" w="569692">
                  <a:moveTo>
                    <a:pt x="0" y="0"/>
                  </a:moveTo>
                  <a:lnTo>
                    <a:pt x="569692" y="0"/>
                  </a:lnTo>
                  <a:lnTo>
                    <a:pt x="569692" y="569692"/>
                  </a:lnTo>
                  <a:lnTo>
                    <a:pt x="0" y="569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809979" y="7986"/>
              <a:ext cx="3043945" cy="51562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grpSp>
      <p:sp>
        <p:nvSpPr>
          <p:cNvPr name="TextBox 12" id="12"/>
          <p:cNvSpPr txBox="true"/>
          <p:nvPr/>
        </p:nvSpPr>
        <p:spPr>
          <a:xfrm rot="0">
            <a:off x="15787318" y="8644890"/>
            <a:ext cx="1471982" cy="613410"/>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FFFFFF"/>
                </a:solidFill>
                <a:latin typeface="Montserrat Ultra-Bold"/>
                <a:ea typeface="Montserrat Ultra-Bold"/>
                <a:cs typeface="Montserrat Ultra-Bold"/>
                <a:sym typeface="Montserrat Ultra-Bold"/>
              </a:rPr>
              <a:t>07</a:t>
            </a:r>
          </a:p>
        </p:txBody>
      </p:sp>
      <p:sp>
        <p:nvSpPr>
          <p:cNvPr name="TextBox 13" id="13"/>
          <p:cNvSpPr txBox="true"/>
          <p:nvPr/>
        </p:nvSpPr>
        <p:spPr>
          <a:xfrm rot="0">
            <a:off x="2261093" y="3023928"/>
            <a:ext cx="5772358" cy="147066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Montserrat"/>
                <a:ea typeface="Montserrat"/>
                <a:cs typeface="Montserrat"/>
                <a:sym typeface="Montserrat"/>
              </a:rPr>
              <a:t>Stefania: Am învățat cum să transmit date pe un canal UDP și cum se trimit și se prcesează pachetele de pe canalul de transmisie.</a:t>
            </a:r>
          </a:p>
        </p:txBody>
      </p:sp>
      <p:grpSp>
        <p:nvGrpSpPr>
          <p:cNvPr name="Group 14" id="14"/>
          <p:cNvGrpSpPr/>
          <p:nvPr/>
        </p:nvGrpSpPr>
        <p:grpSpPr>
          <a:xfrm rot="0">
            <a:off x="1844955" y="2069576"/>
            <a:ext cx="4888181" cy="725805"/>
            <a:chOff x="0" y="0"/>
            <a:chExt cx="6517575" cy="967740"/>
          </a:xfrm>
        </p:grpSpPr>
        <p:sp>
          <p:nvSpPr>
            <p:cNvPr name="TextBox 15" id="15"/>
            <p:cNvSpPr txBox="true"/>
            <p:nvPr/>
          </p:nvSpPr>
          <p:spPr>
            <a:xfrm rot="0">
              <a:off x="2617836" y="-85725"/>
              <a:ext cx="3899739" cy="1053465"/>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FFFFFF"/>
                  </a:solidFill>
                  <a:latin typeface="Montserrat Ultra-Bold"/>
                  <a:ea typeface="Montserrat Ultra-Bold"/>
                  <a:cs typeface="Montserrat Ultra-Bold"/>
                  <a:sym typeface="Montserrat Ultra-Bold"/>
                </a:rPr>
                <a:t>Învățate</a:t>
              </a:r>
            </a:p>
          </p:txBody>
        </p:sp>
        <p:sp>
          <p:nvSpPr>
            <p:cNvPr name="TextBox 16" id="16"/>
            <p:cNvSpPr txBox="true"/>
            <p:nvPr/>
          </p:nvSpPr>
          <p:spPr>
            <a:xfrm rot="0">
              <a:off x="0" y="-85725"/>
              <a:ext cx="4342680" cy="1053465"/>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967630"/>
                  </a:solidFill>
                  <a:latin typeface="Montserrat Ultra-Bold"/>
                  <a:ea typeface="Montserrat Ultra-Bold"/>
                  <a:cs typeface="Montserrat Ultra-Bold"/>
                  <a:sym typeface="Montserrat Ultra-Bold"/>
                </a:rPr>
                <a:t>Lecții</a:t>
              </a:r>
            </a:p>
          </p:txBody>
        </p:sp>
      </p:grpSp>
      <p:sp>
        <p:nvSpPr>
          <p:cNvPr name="TextBox 17" id="17"/>
          <p:cNvSpPr txBox="true"/>
          <p:nvPr/>
        </p:nvSpPr>
        <p:spPr>
          <a:xfrm rot="0">
            <a:off x="2261093" y="4679183"/>
            <a:ext cx="5772358" cy="147066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Montserrat"/>
                <a:ea typeface="Montserrat"/>
                <a:cs typeface="Montserrat"/>
                <a:sym typeface="Montserrat"/>
              </a:rPr>
              <a:t>Adelin: Am invat cum sa folosesc protocolul UART, cat si sincronizarea transmisiei de date cu programul de receptie.</a:t>
            </a:r>
          </a:p>
        </p:txBody>
      </p:sp>
      <p:sp>
        <p:nvSpPr>
          <p:cNvPr name="TextBox 18" id="18"/>
          <p:cNvSpPr txBox="true"/>
          <p:nvPr/>
        </p:nvSpPr>
        <p:spPr>
          <a:xfrm rot="0">
            <a:off x="2261093" y="6330818"/>
            <a:ext cx="5772358" cy="2585085"/>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Montserrat"/>
                <a:ea typeface="Montserrat"/>
                <a:cs typeface="Montserrat"/>
                <a:sym typeface="Montserrat"/>
              </a:rPr>
              <a:t>Mario: Am invatat cum sa folosesc utilitatile aduse de MicroConda, cum sa corectez datele pe care este antrenat un model AI, cum sa antrenez un model AI cu ajutorul PyCharm si cum sa primesc date prin UART si sa trimit date prin UDP.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TextBox 2" id="2"/>
          <p:cNvSpPr txBox="true"/>
          <p:nvPr/>
        </p:nvSpPr>
        <p:spPr>
          <a:xfrm rot="0">
            <a:off x="2992785" y="1454563"/>
            <a:ext cx="12302430" cy="2453640"/>
          </a:xfrm>
          <a:prstGeom prst="rect">
            <a:avLst/>
          </a:prstGeom>
        </p:spPr>
        <p:txBody>
          <a:bodyPr anchor="t" rtlCol="false" tIns="0" lIns="0" bIns="0" rIns="0">
            <a:spAutoFit/>
          </a:bodyPr>
          <a:lstStyle/>
          <a:p>
            <a:pPr algn="ctr" marL="0" indent="0" lvl="0">
              <a:lnSpc>
                <a:spcPts val="20160"/>
              </a:lnSpc>
              <a:spcBef>
                <a:spcPct val="0"/>
              </a:spcBef>
            </a:pPr>
            <a:r>
              <a:rPr lang="en-US" b="true" sz="14400" spc="1108">
                <a:solidFill>
                  <a:srgbClr val="967630"/>
                </a:solidFill>
                <a:latin typeface="Montserrat Ultra-Bold"/>
                <a:ea typeface="Montserrat Ultra-Bold"/>
                <a:cs typeface="Montserrat Ultra-Bold"/>
                <a:sym typeface="Montserrat Ultra-Bold"/>
              </a:rPr>
              <a:t>Thank You</a:t>
            </a:r>
          </a:p>
        </p:txBody>
      </p:sp>
      <p:sp>
        <p:nvSpPr>
          <p:cNvPr name="Freeform 3" id="3"/>
          <p:cNvSpPr/>
          <p:nvPr/>
        </p:nvSpPr>
        <p:spPr>
          <a:xfrm flipH="false" flipV="false" rot="0">
            <a:off x="3439074" y="6358122"/>
            <a:ext cx="9643768" cy="1928754"/>
          </a:xfrm>
          <a:custGeom>
            <a:avLst/>
            <a:gdLst/>
            <a:ahLst/>
            <a:cxnLst/>
            <a:rect r="r" b="b" t="t" l="l"/>
            <a:pathLst>
              <a:path h="1928754" w="9643768">
                <a:moveTo>
                  <a:pt x="0" y="0"/>
                </a:moveTo>
                <a:lnTo>
                  <a:pt x="9643768" y="0"/>
                </a:lnTo>
                <a:lnTo>
                  <a:pt x="9643768" y="1928753"/>
                </a:lnTo>
                <a:lnTo>
                  <a:pt x="0" y="1928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5205158" y="6837847"/>
            <a:ext cx="9643768" cy="1928754"/>
          </a:xfrm>
          <a:custGeom>
            <a:avLst/>
            <a:gdLst/>
            <a:ahLst/>
            <a:cxnLst/>
            <a:rect r="r" b="b" t="t" l="l"/>
            <a:pathLst>
              <a:path h="1928754" w="9643768">
                <a:moveTo>
                  <a:pt x="9643768" y="1928753"/>
                </a:moveTo>
                <a:lnTo>
                  <a:pt x="0" y="1928753"/>
                </a:lnTo>
                <a:lnTo>
                  <a:pt x="0" y="0"/>
                </a:lnTo>
                <a:lnTo>
                  <a:pt x="9643768" y="0"/>
                </a:lnTo>
                <a:lnTo>
                  <a:pt x="9643768" y="192875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16474" y="3317577"/>
            <a:ext cx="8677431" cy="5803032"/>
          </a:xfrm>
          <a:custGeom>
            <a:avLst/>
            <a:gdLst/>
            <a:ahLst/>
            <a:cxnLst/>
            <a:rect r="r" b="b" t="t" l="l"/>
            <a:pathLst>
              <a:path h="5803032" w="8677431">
                <a:moveTo>
                  <a:pt x="0" y="0"/>
                </a:moveTo>
                <a:lnTo>
                  <a:pt x="8677432" y="0"/>
                </a:lnTo>
                <a:lnTo>
                  <a:pt x="8677432" y="5803033"/>
                </a:lnTo>
                <a:lnTo>
                  <a:pt x="0" y="5803033"/>
                </a:lnTo>
                <a:lnTo>
                  <a:pt x="0" y="0"/>
                </a:lnTo>
                <a:close/>
              </a:path>
            </a:pathLst>
          </a:custGeom>
          <a:blipFill>
            <a:blip r:embed="rId4"/>
            <a:stretch>
              <a:fillRect l="0" t="0" r="0" b="0"/>
            </a:stretch>
          </a:blipFill>
        </p:spPr>
      </p:sp>
      <p:sp>
        <p:nvSpPr>
          <p:cNvPr name="Freeform 6" id="6"/>
          <p:cNvSpPr/>
          <p:nvPr/>
        </p:nvSpPr>
        <p:spPr>
          <a:xfrm flipH="true" flipV="false" rot="0">
            <a:off x="-5481254" y="-915657"/>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true" rot="-10800000">
            <a:off x="15809565" y="3680460"/>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7698778" y="815066"/>
            <a:ext cx="2890443" cy="427269"/>
            <a:chOff x="0" y="0"/>
            <a:chExt cx="3853924" cy="569692"/>
          </a:xfrm>
        </p:grpSpPr>
        <p:sp>
          <p:nvSpPr>
            <p:cNvPr name="Freeform 9" id="9"/>
            <p:cNvSpPr/>
            <p:nvPr/>
          </p:nvSpPr>
          <p:spPr>
            <a:xfrm flipH="false" flipV="false" rot="0">
              <a:off x="0" y="0"/>
              <a:ext cx="569692" cy="569692"/>
            </a:xfrm>
            <a:custGeom>
              <a:avLst/>
              <a:gdLst/>
              <a:ahLst/>
              <a:cxnLst/>
              <a:rect r="r" b="b" t="t" l="l"/>
              <a:pathLst>
                <a:path h="569692" w="569692">
                  <a:moveTo>
                    <a:pt x="0" y="0"/>
                  </a:moveTo>
                  <a:lnTo>
                    <a:pt x="569692" y="0"/>
                  </a:lnTo>
                  <a:lnTo>
                    <a:pt x="569692" y="569692"/>
                  </a:lnTo>
                  <a:lnTo>
                    <a:pt x="0" y="5696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809979" y="7986"/>
              <a:ext cx="3043945" cy="51562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grpSp>
      <p:sp>
        <p:nvSpPr>
          <p:cNvPr name="TextBox 11" id="11"/>
          <p:cNvSpPr txBox="true"/>
          <p:nvPr/>
        </p:nvSpPr>
        <p:spPr>
          <a:xfrm rot="0">
            <a:off x="10282053" y="4023258"/>
            <a:ext cx="6977247" cy="4911884"/>
          </a:xfrm>
          <a:prstGeom prst="rect">
            <a:avLst/>
          </a:prstGeom>
        </p:spPr>
        <p:txBody>
          <a:bodyPr anchor="t" rtlCol="false" tIns="0" lIns="0" bIns="0" rIns="0">
            <a:spAutoFit/>
          </a:bodyPr>
          <a:lstStyle/>
          <a:p>
            <a:pPr algn="l">
              <a:lnSpc>
                <a:spcPts val="2791"/>
              </a:lnSpc>
            </a:pPr>
            <a:r>
              <a:rPr lang="en-US" sz="1993">
                <a:solidFill>
                  <a:srgbClr val="FFFFFF"/>
                </a:solidFill>
                <a:latin typeface="Montserrat"/>
                <a:ea typeface="Montserrat"/>
                <a:cs typeface="Montserrat"/>
                <a:sym typeface="Montserrat"/>
              </a:rPr>
              <a:t>Resurse:</a:t>
            </a:r>
          </a:p>
          <a:p>
            <a:pPr algn="l" marL="430450" indent="-215225" lvl="1">
              <a:lnSpc>
                <a:spcPts val="2791"/>
              </a:lnSpc>
              <a:buFont typeface="Arial"/>
              <a:buChar char="•"/>
            </a:pPr>
            <a:r>
              <a:rPr lang="en-US" sz="1993">
                <a:solidFill>
                  <a:srgbClr val="FFFFFF"/>
                </a:solidFill>
                <a:latin typeface="Montserrat"/>
                <a:ea typeface="Montserrat"/>
                <a:cs typeface="Montserrat"/>
                <a:sym typeface="Montserrat"/>
              </a:rPr>
              <a:t>https://www.youtube.com/watch?v=LWB-jzDAiuU: idle bike sound loop</a:t>
            </a:r>
          </a:p>
          <a:p>
            <a:pPr algn="l" marL="430450" indent="-215225" lvl="1">
              <a:lnSpc>
                <a:spcPts val="2791"/>
              </a:lnSpc>
              <a:buFont typeface="Arial"/>
              <a:buChar char="•"/>
            </a:pPr>
            <a:r>
              <a:rPr lang="en-US" sz="1993">
                <a:solidFill>
                  <a:srgbClr val="FFFFFF"/>
                </a:solidFill>
                <a:latin typeface="Montserrat"/>
                <a:ea typeface="Montserrat"/>
                <a:cs typeface="Montserrat"/>
                <a:sym typeface="Montserrat"/>
              </a:rPr>
              <a:t>https://docs.pytorch.org/docs/stable/index.html : PyTorch documentation</a:t>
            </a:r>
          </a:p>
          <a:p>
            <a:pPr algn="l" marL="430450" indent="-215225" lvl="1">
              <a:lnSpc>
                <a:spcPts val="2791"/>
              </a:lnSpc>
              <a:buFont typeface="Arial"/>
              <a:buChar char="•"/>
            </a:pPr>
            <a:r>
              <a:rPr lang="en-US" sz="1993">
                <a:solidFill>
                  <a:srgbClr val="FFFFFF"/>
                </a:solidFill>
                <a:latin typeface="Montserrat"/>
                <a:ea typeface="Montserrat"/>
                <a:cs typeface="Montserrat"/>
                <a:sym typeface="Montserrat"/>
              </a:rPr>
              <a:t>https://documentation.espressif.com/esp32_technical_reference_manual_en.pdf: ESP32 technical reference manual</a:t>
            </a:r>
          </a:p>
          <a:p>
            <a:pPr algn="l" marL="430450" indent="-215225" lvl="1">
              <a:lnSpc>
                <a:spcPts val="2791"/>
              </a:lnSpc>
              <a:buFont typeface="Arial"/>
              <a:buChar char="•"/>
            </a:pPr>
            <a:r>
              <a:rPr lang="en-US" sz="1993">
                <a:solidFill>
                  <a:srgbClr val="FFFFFF"/>
                </a:solidFill>
                <a:latin typeface="Montserrat"/>
                <a:ea typeface="Montserrat"/>
                <a:cs typeface="Montserrat"/>
                <a:sym typeface="Montserrat"/>
              </a:rPr>
              <a:t>Gemini - Google: used for general help</a:t>
            </a:r>
          </a:p>
          <a:p>
            <a:pPr algn="l" marL="430450" indent="-215225" lvl="1">
              <a:lnSpc>
                <a:spcPts val="2791"/>
              </a:lnSpc>
              <a:buFont typeface="Arial"/>
              <a:buChar char="•"/>
            </a:pPr>
            <a:r>
              <a:rPr lang="en-US" sz="1993">
                <a:solidFill>
                  <a:srgbClr val="FFFFFF"/>
                </a:solidFill>
                <a:latin typeface="Montserrat"/>
                <a:ea typeface="Montserrat"/>
                <a:cs typeface="Montserrat"/>
                <a:sym typeface="Montserrat"/>
              </a:rPr>
              <a:t>https://youtu.be/-wllulJyJa8: funny honk sound</a:t>
            </a:r>
          </a:p>
          <a:p>
            <a:pPr algn="l" marL="430450" indent="-215225" lvl="1">
              <a:lnSpc>
                <a:spcPts val="2791"/>
              </a:lnSpc>
              <a:buFont typeface="Arial"/>
              <a:buChar char="•"/>
            </a:pPr>
            <a:r>
              <a:rPr lang="en-US" sz="1993">
                <a:solidFill>
                  <a:srgbClr val="FFFFFF"/>
                </a:solidFill>
                <a:latin typeface="Montserrat"/>
                <a:ea typeface="Montserrat"/>
                <a:cs typeface="Montserrat"/>
                <a:sym typeface="Montserrat"/>
              </a:rPr>
              <a:t>https://docs.oracle.com/javase/8/docs/technotes/guides/sound/index.html: java sound library</a:t>
            </a:r>
          </a:p>
          <a:p>
            <a:pPr algn="l" marL="430450" indent="-215225" lvl="1">
              <a:lnSpc>
                <a:spcPts val="2791"/>
              </a:lnSpc>
              <a:buFont typeface="Arial"/>
              <a:buChar char="•"/>
            </a:pPr>
            <a:r>
              <a:rPr lang="en-US" sz="1993">
                <a:solidFill>
                  <a:srgbClr val="FFFFFF"/>
                </a:solidFill>
                <a:latin typeface="Montserrat"/>
                <a:ea typeface="Montserrat"/>
                <a:cs typeface="Montserrat"/>
                <a:sym typeface="Montserrat"/>
              </a:rPr>
              <a:t>https://www.anaconda.com/docs/getting-started/miniconda/main: miniconda for python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DAHHv0QpQIY</dc:identifier>
  <dcterms:modified xsi:type="dcterms:W3CDTF">2011-08-01T06:04:30Z</dcterms:modified>
  <cp:revision>1</cp:revision>
  <dc:title>Motorcycle Simulator</dc:title>
</cp:coreProperties>
</file>